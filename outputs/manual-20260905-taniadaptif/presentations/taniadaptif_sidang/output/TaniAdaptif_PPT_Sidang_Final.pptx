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45fbc99bf4c48" /><Relationship Type="http://schemas.openxmlformats.org/officeDocument/2006/relationships/extended-properties" Target="/docProps/app.xml" Id="Rc84c543fd41645a5" /><Relationship Type="http://schemas.openxmlformats.org/officeDocument/2006/relationships/officeDocument" Target="/ppt/presentation.xml" Id="Rfcf9d4fdbdb9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b4d07a6cb44b44"/>
  </p:sldMasterIdLst>
  <p:notesMasterIdLst>
    <p:notesMasterId xmlns:r="http://schemas.openxmlformats.org/officeDocument/2006/relationships" r:id="R248b3af08b6e4d38"/>
  </p:notesMasterIdLst>
  <p:sldIdLst>
    <p:sldId xmlns:r="http://schemas.openxmlformats.org/officeDocument/2006/relationships" id="256" r:id="Ra8133d21a1d04525"/>
    <p:sldId xmlns:r="http://schemas.openxmlformats.org/officeDocument/2006/relationships" id="257" r:id="R1127908ef7fc4e1b"/>
    <p:sldId xmlns:r="http://schemas.openxmlformats.org/officeDocument/2006/relationships" id="258" r:id="R233d1f1ec9024f7e"/>
    <p:sldId xmlns:r="http://schemas.openxmlformats.org/officeDocument/2006/relationships" id="259" r:id="Rff1a9680e766421b"/>
    <p:sldId xmlns:r="http://schemas.openxmlformats.org/officeDocument/2006/relationships" id="260" r:id="R2f29de98367647f4"/>
    <p:sldId xmlns:r="http://schemas.openxmlformats.org/officeDocument/2006/relationships" id="261" r:id="Rc93946bf5ac3488d"/>
    <p:sldId xmlns:r="http://schemas.openxmlformats.org/officeDocument/2006/relationships" id="262" r:id="Rbc22825022604b97"/>
    <p:sldId xmlns:r="http://schemas.openxmlformats.org/officeDocument/2006/relationships" id="263" r:id="Rc757514d6ba84096"/>
    <p:sldId xmlns:r="http://schemas.openxmlformats.org/officeDocument/2006/relationships" id="264" r:id="R3023d716be09405e"/>
    <p:sldId xmlns:r="http://schemas.openxmlformats.org/officeDocument/2006/relationships" id="265" r:id="R79a4e23cf4ad4991"/>
    <p:sldId xmlns:r="http://schemas.openxmlformats.org/officeDocument/2006/relationships" id="266" r:id="R7e023f5954314565"/>
    <p:sldId xmlns:r="http://schemas.openxmlformats.org/officeDocument/2006/relationships" id="267" r:id="R6d4d2868d27a4fc1"/>
    <p:sldId xmlns:r="http://schemas.openxmlformats.org/officeDocument/2006/relationships" id="268" r:id="Rd17088a956f44b61"/>
    <p:sldId xmlns:r="http://schemas.openxmlformats.org/officeDocument/2006/relationships" id="269" r:id="Rc499540bd7bd49d4"/>
    <p:sldId xmlns:r="http://schemas.openxmlformats.org/officeDocument/2006/relationships" id="270" r:id="R52eab285b3704f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1498ed7a5649ed" /><Relationship Type="http://schemas.openxmlformats.org/officeDocument/2006/relationships/slideMaster" Target="/ppt/slideMasters/slideMaster1.xml" Id="R2ab4d07a6cb44b44" /><Relationship Type="http://schemas.openxmlformats.org/officeDocument/2006/relationships/notesMaster" Target="/ppt/notesMasters/notesMaster1.xml" Id="R248b3af08b6e4d38" /><Relationship Type="http://schemas.openxmlformats.org/officeDocument/2006/relationships/presProps" Target="/ppt/presProps.xml" Id="Rff9c633470e14db6" /><Relationship Type="http://schemas.openxmlformats.org/officeDocument/2006/relationships/viewProps" Target="/ppt/viewProps.xml" Id="R88e7ca6647714520" /><Relationship Type="http://schemas.openxmlformats.org/officeDocument/2006/relationships/tableStyles" Target="/ppt/tableStyles.xml" Id="R83b4e8b1d79444e4" /><Relationship Type="http://schemas.openxmlformats.org/officeDocument/2006/relationships/slide" Target="/ppt/slides/slide1.xml" Id="Ra8133d21a1d04525" /><Relationship Type="http://schemas.openxmlformats.org/officeDocument/2006/relationships/slide" Target="/ppt/slides/slide2.xml" Id="R1127908ef7fc4e1b" /><Relationship Type="http://schemas.openxmlformats.org/officeDocument/2006/relationships/slide" Target="/ppt/slides/slide3.xml" Id="R233d1f1ec9024f7e" /><Relationship Type="http://schemas.openxmlformats.org/officeDocument/2006/relationships/slide" Target="/ppt/slides/slide4.xml" Id="Rff1a9680e766421b" /><Relationship Type="http://schemas.openxmlformats.org/officeDocument/2006/relationships/slide" Target="/ppt/slides/slide5.xml" Id="R2f29de98367647f4" /><Relationship Type="http://schemas.openxmlformats.org/officeDocument/2006/relationships/slide" Target="/ppt/slides/slide6.xml" Id="Rc93946bf5ac3488d" /><Relationship Type="http://schemas.openxmlformats.org/officeDocument/2006/relationships/slide" Target="/ppt/slides/slide7.xml" Id="Rbc22825022604b97" /><Relationship Type="http://schemas.openxmlformats.org/officeDocument/2006/relationships/slide" Target="/ppt/slides/slide8.xml" Id="Rc757514d6ba84096" /><Relationship Type="http://schemas.openxmlformats.org/officeDocument/2006/relationships/slide" Target="/ppt/slides/slide9.xml" Id="R3023d716be09405e" /><Relationship Type="http://schemas.openxmlformats.org/officeDocument/2006/relationships/slide" Target="/ppt/slides/slide10.xml" Id="R79a4e23cf4ad4991" /><Relationship Type="http://schemas.openxmlformats.org/officeDocument/2006/relationships/slide" Target="/ppt/slides/slide11.xml" Id="R7e023f5954314565" /><Relationship Type="http://schemas.openxmlformats.org/officeDocument/2006/relationships/slide" Target="/ppt/slides/slide12.xml" Id="R6d4d2868d27a4fc1" /><Relationship Type="http://schemas.openxmlformats.org/officeDocument/2006/relationships/slide" Target="/ppt/slides/slide13.xml" Id="Rd17088a956f44b61" /><Relationship Type="http://schemas.openxmlformats.org/officeDocument/2006/relationships/slide" Target="/ppt/slides/slide14.xml" Id="Rc499540bd7bd49d4" /><Relationship Type="http://schemas.openxmlformats.org/officeDocument/2006/relationships/slide" Target="/ppt/slides/slide15.xml" Id="R52eab285b3704f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8de39cf63e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dfed86d95044f1" /><Relationship Type="http://schemas.openxmlformats.org/officeDocument/2006/relationships/notesMaster" Target="/ppt/notesMasters/notesMaster1.xml" Id="R97af6d2a07b344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9ca6693ca54766" /><Relationship Type="http://schemas.openxmlformats.org/officeDocument/2006/relationships/notesMaster" Target="/ppt/notesMasters/notesMaster1.xml" Id="R14ba9bea86144e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081c1a75e34ec9" /><Relationship Type="http://schemas.openxmlformats.org/officeDocument/2006/relationships/notesMaster" Target="/ppt/notesMasters/notesMaster1.xml" Id="R7fdea929f62e41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70521d0f2b4778" /><Relationship Type="http://schemas.openxmlformats.org/officeDocument/2006/relationships/notesMaster" Target="/ppt/notesMasters/notesMaster1.xml" Id="Rf3d246553e6047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ef1f9a00e44b8b" /><Relationship Type="http://schemas.openxmlformats.org/officeDocument/2006/relationships/notesMaster" Target="/ppt/notesMasters/notesMaster1.xml" Id="R6ed71231a3b5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20b17387df41c7" /><Relationship Type="http://schemas.openxmlformats.org/officeDocument/2006/relationships/notesMaster" Target="/ppt/notesMasters/notesMaster1.xml" Id="R893147a4dffb4d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5ca56f8c654b70" /><Relationship Type="http://schemas.openxmlformats.org/officeDocument/2006/relationships/notesMaster" Target="/ppt/notesMasters/notesMaster1.xml" Id="Rcc86b3083e524c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3202eb5ee40b4" /><Relationship Type="http://schemas.openxmlformats.org/officeDocument/2006/relationships/notesMaster" Target="/ppt/notesMasters/notesMaster1.xml" Id="R665539014b064a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12ce4bad124a36" /><Relationship Type="http://schemas.openxmlformats.org/officeDocument/2006/relationships/notesMaster" Target="/ppt/notesMasters/notesMaster1.xml" Id="Ra141e7289c5048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4247e088b24f06" /><Relationship Type="http://schemas.openxmlformats.org/officeDocument/2006/relationships/notesMaster" Target="/ppt/notesMasters/notesMaster1.xml" Id="R5d7a33a4aebd41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69995ed4194ba6" /><Relationship Type="http://schemas.openxmlformats.org/officeDocument/2006/relationships/notesMaster" Target="/ppt/notesMasters/notesMaster1.xml" Id="R4d6244056b3144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ca62a701e44fce" /><Relationship Type="http://schemas.openxmlformats.org/officeDocument/2006/relationships/notesMaster" Target="/ppt/notesMasters/notesMaster1.xml" Id="R1df11b2b686945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c28d7fd46e478c" /><Relationship Type="http://schemas.openxmlformats.org/officeDocument/2006/relationships/notesMaster" Target="/ppt/notesMasters/notesMaster1.xml" Id="R803d84e2dc0a4d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36a97a0f8642b4" /><Relationship Type="http://schemas.openxmlformats.org/officeDocument/2006/relationships/notesMaster" Target="/ppt/notesMasters/notesMaster1.xml" Id="Rbbeb43d88f394c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01d856766b4725" /><Relationship Type="http://schemas.openxmlformats.org/officeDocument/2006/relationships/notesMaster" Target="/ppt/notesMasters/notesMaster1.xml" Id="R7ec33584123d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093ff06bf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5ea7583b44ee0" /><Relationship Type="http://schemas.openxmlformats.org/officeDocument/2006/relationships/slideLayout" Target="/ppt/slideLayouts/slideLayout1.xml" Id="R95424b08dd6249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24b08dd6249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7be682a084ea5" /><Relationship Type="http://schemas.openxmlformats.org/officeDocument/2006/relationships/image" Target="/ppt/media/image.png" Id="R3cfd008eea8e4560" /><Relationship Type="http://schemas.openxmlformats.org/officeDocument/2006/relationships/notesSlide" Target="/ppt/notesSlides/notesSlide1.xml" Id="Re2f43f9d8b4c4e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e1e236cc64b5e" /><Relationship Type="http://schemas.openxmlformats.org/officeDocument/2006/relationships/notesSlide" Target="/ppt/notesSlides/notesSlide2.xml" Id="Rcc9e6db20328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8cb94949b4e5a" /><Relationship Type="http://schemas.openxmlformats.org/officeDocument/2006/relationships/notesSlide" Target="/ppt/notesSlides/notesSlide3.xml" Id="R6a46e11d07dc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40e4b30444ad5" /><Relationship Type="http://schemas.openxmlformats.org/officeDocument/2006/relationships/notesSlide" Target="/ppt/notesSlides/notesSlide4.xml" Id="R311a910bff8442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19c0f0ebb4447" /><Relationship Type="http://schemas.openxmlformats.org/officeDocument/2006/relationships/notesSlide" Target="/ppt/notesSlides/notesSlide5.xml" Id="R7a5108939aa94c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4e55774a24b2b" /><Relationship Type="http://schemas.openxmlformats.org/officeDocument/2006/relationships/image" Target="/ppt/media/image2.png" Id="Ra415d6b05e2e409d" /><Relationship Type="http://schemas.openxmlformats.org/officeDocument/2006/relationships/notesSlide" Target="/ppt/notesSlides/notesSlide6.xml" Id="R89352efc266344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82b4f5e0e4eed" /><Relationship Type="http://schemas.openxmlformats.org/officeDocument/2006/relationships/image" Target="/ppt/media/image3.png" Id="R1be20fbd28be4e4d" /><Relationship Type="http://schemas.openxmlformats.org/officeDocument/2006/relationships/notesSlide" Target="/ppt/notesSlides/notesSlide7.xml" Id="Rd083bea32da949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e56f88ce4043" /><Relationship Type="http://schemas.openxmlformats.org/officeDocument/2006/relationships/notesSlide" Target="/ppt/notesSlides/notesSlide8.xml" Id="R6032ebf8d8ef4e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5868059574aed" /><Relationship Type="http://schemas.openxmlformats.org/officeDocument/2006/relationships/image" Target="/ppt/media/image.jpeg" Id="R5a09ccbab9a94108" /><Relationship Type="http://schemas.openxmlformats.org/officeDocument/2006/relationships/image" Target="/ppt/media/image2.jpeg" Id="R24c221ee8fc8486b" /><Relationship Type="http://schemas.openxmlformats.org/officeDocument/2006/relationships/image" Target="/ppt/media/image4.png" Id="R51785021064441bc" /><Relationship Type="http://schemas.openxmlformats.org/officeDocument/2006/relationships/image" Target="/ppt/media/image3.jpeg" Id="R7d34922fcbea4fef" /><Relationship Type="http://schemas.openxmlformats.org/officeDocument/2006/relationships/image" Target="/ppt/media/image4.jpeg" Id="Ra33b77e53f6745de" /><Relationship Type="http://schemas.openxmlformats.org/officeDocument/2006/relationships/notesSlide" Target="/ppt/notesSlides/notesSlide9.xml" Id="R6de9e64be2324d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99ba5bbb94995" /><Relationship Type="http://schemas.openxmlformats.org/officeDocument/2006/relationships/notesSlide" Target="/ppt/notesSlides/notesSlide10.xml" Id="R965d19b2c3304c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d97ff110941db" /><Relationship Type="http://schemas.openxmlformats.org/officeDocument/2006/relationships/notesSlide" Target="/ppt/notesSlides/notesSlide11.xml" Id="R156850fab5304d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9f6e5a067413d" /><Relationship Type="http://schemas.openxmlformats.org/officeDocument/2006/relationships/notesSlide" Target="/ppt/notesSlides/notesSlide12.xml" Id="Rce35b964b1134a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a1097507149e9" /><Relationship Type="http://schemas.openxmlformats.org/officeDocument/2006/relationships/notesSlide" Target="/ppt/notesSlides/notesSlide13.xml" Id="R0df4bb1693b04a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5463e84584113" /><Relationship Type="http://schemas.openxmlformats.org/officeDocument/2006/relationships/notesSlide" Target="/ppt/notesSlides/notesSlide14.xml" Id="Rf13047d49d7041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ed1982082426b" /><Relationship Type="http://schemas.openxmlformats.org/officeDocument/2006/relationships/notesSlide" Target="/ppt/notesSlides/notesSlide15.xml" Id="R8cdcc560f81e4d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A01D5-35F8-471A-9D46-F57F34B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C54A4-039A-447C-AF0F-16425CC3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163EB-A39D-4661-8885-3453AE28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SIDANG SKRIPSI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6D4D0-6752-4B35-8493-E298EB73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4F7F8"/>
                </a:solidFill>
                <a:latin typeface="Aptos Display"/>
                <a:ea typeface="Aptos Display"/>
                <a:cs typeface="Aptos Display"/>
              </a:rPr>
              <a:t>TaniAdaptif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85AB6-ABFD-4821-822F-049BF2B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Simulasi rotasi tanam adaptif iklim</a:t>
            </a:r>
          </a:p>
          <a:p xmlns:a="http://schemas.openxmlformats.org/drawingml/2006/main">
            <a:pPr algn="l">
              <a:defRPr sz="20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berbasis BMKG, rule-based engine, dan LoRA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7F084-40A6-4A76-849B-92D429E3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F6962-CC79-424B-A486-BA28005A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590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Rancang Bangun Aplikasi Mobile Berbasis Stable Diffusion</a:t>
            </a:r>
          </a:p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dengan Fine-Tuning LoRA dan API BMKG untuk Simulasi</a:t>
            </a:r>
          </a:p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Rotasi Tanam Adaptif Iklim di Wilayah Aikmel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16B7E-4ABD-4B5C-9EC7-30E9C638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Gaus Abdul Rozak  |  220602210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7A9EE-5A8E-4FBF-B190-1D5DBBA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Program Studi Informatika</a:t>
            </a:r>
          </a:p>
          <a:p xmlns:a="http://schemas.openxmlformats.org/drawingml/2006/main">
            <a:pPr algn="l">
              <a:defRPr sz="11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Fakultas Teknik | Universitas Hamzanwadi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F1B74-EFBB-4D11-A1E9-0EB0B038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B7FF">
              <a:alpha val="13333"/>
            </a:srgbClr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E7C96-B90B-4745-8C4B-3EB4DB7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BMKG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E3D90-DC3F-482E-AC0C-FEAD33E6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0550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C76D">
              <a:alpha val="13333"/>
            </a:srgbClr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367D4-945C-4A81-A1D6-93DBAB93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626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9E3C0-F9D8-4A00-8D6B-5406F61B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90550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1D7D2">
              <a:alpha val="13333"/>
            </a:srgbClr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4AEA4-4B4D-4B7F-9E4F-175659F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9626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A10B0-9896-4CB0-93B1-56763F7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2103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Masalah lingkungan -&gt; keputusan tanam -&gt; visualisasi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d008eea8e4560"/>
          <a:stretch xmlns:a="http://schemas.openxmlformats.org/drawingml/2006/main"/>
        </p:blipFill>
        <p:spPr>
          <a:xfrm xmlns:a="http://schemas.openxmlformats.org/drawingml/2006/main">
            <a:off x="7239000" y="530225"/>
            <a:ext cx="3333750" cy="539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660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135812-64E1-45BB-BEA8-0D860520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1EA31A91-970F-495D-9D9E-CA3D8AA8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53A6579-01A4-4122-8CEB-36A2507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KENAPA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75D20-9A04-4D09-A2E0-ABF94DE3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Cuaca penting, tetapi keputusan tanam membutuhkan konteks lahan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23EC7-9743-42A5-8425-EDD4DE79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53D6C-24EC-48B8-9DD7-8C17772C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7CDA7-8B88-45A6-895F-000FDF1A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07B85-3697-4DF0-80DA-48F68B5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831A-205A-4527-B4BD-4D15190D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Informasi BMKG sudah tersedia. Tantangannya adalah mengubahnya menjadi keputusan yang dapat ditelusuri dan dipahami.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51E5D-BF91-4C08-A7BD-A14EBF99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BMKG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7DD87-4C31-4A54-8FCD-D299517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sumber cuaca wilayah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4F10-41AA-4AA0-ADB2-2E9FB77F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6879E-DFB6-4730-8BD7-8DEEA437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komoditas dalam ruang lingkup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EB3BA-0B68-4554-B6B1-C8EDE38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FA134-A388-4DA3-9D97-1D18EF8F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alur mobile dari cuaca ke visual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406B5-796C-43F9-A7DF-8BEC0B5E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111633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FACB5-5C52-4C21-BE61-660FFCA2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KEBUTUHAN PENELITIAN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CAEF6-F1D2-421D-90D5-3DBC3AAA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A90E2-EA5F-4A30-91C9-710215E3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EB0D7-D83B-4E66-AAB8-E02B98CD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Cuaca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0F860-ECEA-495F-8E29-DC0DE6A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Perubahan cuaca memengaruhi air dan waktu tanam.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3024A-3BE5-46CE-B191-3D05C133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1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6ABBC-E0B7-4522-9BC2-6F14119F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91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5B87E-DEE4-489E-B2E1-A362B8D6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910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Lahan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0F98A-3385-4E56-B161-78053A4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958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Jenis lahan, ketersediaan air, dan tanaman sebelumnya ikut menentukan.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CC92A-C014-47B2-A6CB-979C2417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58F05-CE11-478D-A2F3-6FCD7695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91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2AE7F-8AFD-47FF-BA1A-FBABE8B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8C820-44AF-433A-9330-48A73327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958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Rekomendasi perlu konsisten, terstruktur, dan dapat ditelusuri.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5B70B-C354-4ED1-8462-C211B3C3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A8BBBF-1E9E-41CF-8CC4-8DF6F74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91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CD1D4-6E0E-4409-8F31-CE022418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4F0AF8-019A-490E-A00F-D54F09D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Gambar membantu pengguna memahami komoditas yang direkomendasikan.</a:t>
            </a:r>
          </a:p>
        </p:txBody>
      </p:sp>
    </p:spTree>
    <p:extLst>
      <p:ext uri="{BB962C8B-B14F-4D97-AF65-F5344CB8AC3E}">
        <p14:creationId xmlns:p14="http://schemas.microsoft.com/office/powerpoint/2010/main" val="17670760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70813-58B0-48CA-8ABF-383CEEA4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1873BD6-A2F7-4E02-94DA-1BBF45B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DDCC43A0-7BBC-424A-97EF-94B22E9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A1157-9049-4A50-9C00-D19299D7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Sebelum TaniAdaptif, informasi masih berjalan sebagai potongan-potongan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2EA36-3329-490F-9293-1E21E69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4FFC4-5CE9-4D28-8A90-5D453D21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76711-F27D-4C1A-99A8-A71B41D9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70393-0132-4D30-B6BF-A6DA7F8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6B7A1-4390-496B-A073-D866644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Gap penelitian berada pada integrasi: data cuaca, kondisi lahan, mekanisme keputusan, dan visualisasi belum hadir dalam satu alur aplikasi.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E76BC-11D8-4F60-A942-D374DCF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0511D-55BA-4796-811C-E8CA0C0F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A53F1-35A6-4DD1-8C83-A0CD3E4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Cuaca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E4D9F-CABB-43DD-BAAB-51648A7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847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Data tersedia,</a:t>
            </a:r>
          </a:p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keputusan belum otomatis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8E30E-D73F-4038-ACAC-F423367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FDB26-1F49-4C3C-B77D-370C91B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788BA-D306-4407-8234-E6892D3C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Lahan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D207C-FFE6-4267-859B-5D90B92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1847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Kondisi pengguna</a:t>
            </a:r>
          </a:p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belum ikut terbaca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509B2-8230-4CB3-8BA3-E1ACF201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F8C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87D60-1129-4DFE-9646-795DA638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AC0B0-6827-4975-92DC-FAD2720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89A4D-D241-44AB-876A-45E79E8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847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Pilihan tanaman</a:t>
            </a:r>
          </a:p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belum satu mekanisme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33498-4B86-4256-9CD5-3C2951C9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FB298-2524-4A2A-B93B-069AD622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619BA-722B-4C34-BF61-09B1228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Visual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4F4AC-CC45-425C-AB51-E6D8EEC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1847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Simulasi terpisah</a:t>
            </a:r>
          </a:p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dari hasil rekomendasi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22354-0936-4EC8-A371-0DA502A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48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0B972-2BD7-4FE5-883A-0540A8D8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0DFD9-6ACC-4CFA-8EDF-D5E2F7F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FD8EB1-6F2B-4D23-B830-649A11D3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5D6FBB-E2CC-4E68-BBBD-D71FB2F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8A3B9E-F978-439B-8804-7225211E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443120-123B-44EF-AEA3-77F5BBEF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41C1F"/>
          </a:solidFill>
          <a:ln xmlns:a="http://schemas.openxmlformats.org/drawingml/2006/main" w="9525">
            <a:solidFill>
              <a:srgbClr val="FF8C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DDA6DB-E7C7-4E4F-A96E-27E78A45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33975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C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8C78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B9D450-DEB8-4ED6-AA32-17F16AB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Belum ada satu jalur yang menghubungkan kondisi lingkungan -&gt; rekomendasi -&gt; simulasi visual.</a:t>
            </a:r>
          </a:p>
        </p:txBody>
      </p:sp>
    </p:spTree>
    <p:extLst>
      <p:ext uri="{BB962C8B-B14F-4D97-AF65-F5344CB8AC3E}">
        <p14:creationId xmlns:p14="http://schemas.microsoft.com/office/powerpoint/2010/main" val="1241944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60355-397F-4678-B61C-271345FD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020407E3-43D6-4BBB-ABCE-1C5724FA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309733C8-0A5D-41FF-A1C0-60D22E04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SOLUSI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F2FB-8CC6-4497-9B7D-149E6303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Satu alur: data lingkungan menjadi rekomendasi, lalu divisualkan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74C62-6041-4E86-98D8-2A442B4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D57EC-50DE-40C5-84FA-A12D9B55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BAACF-F4CE-41EE-B8C3-1D2BD832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 dan BAB III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6C0E1-EDE2-4474-95A5-8670C40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1EC2B-CDA6-4BB9-835B-9BF296BF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Pemisahan peran menjaga keputusan tetap terstruktur: rule-based engine memilih tanaman; Stable Diffusion + LoRA hanya membuat visual.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9D609-4CAA-481E-AE9C-571166C0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DA05F-DB0B-4C62-8A80-FF9A6F52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C3FF2-E4FC-483A-B92A-BD50D9AA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BMKG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623A0-846E-4E65-BF41-D792D8F8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cuaca Aikmel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FFBE1-8A54-462D-B604-BA94C4F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09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0413A-635A-4F6A-8D30-A3FA4FA3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0212E-0684-4AD5-84FD-46344005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3204E-027E-4048-A4DA-BA3C6487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54CB6-D1DA-4B01-A2F8-B1B75F8B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Kondisi lahan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3198F-1A37-4B20-AE91-9360A0FF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jenis, air, sebelumnya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FDF52-AEB4-47AA-B8C7-7F96A8E1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1A436-CCA0-4771-A80C-99CC1827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956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AD885-080B-4E09-BF0D-6534895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0E990-27AF-4AC3-A7CE-F5D0F6CD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2455D-4779-4230-8B28-EE1B870E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Rule-based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578F6-A3FB-444F-A1ED-1234E55E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decision 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FE2C9-7FD8-4425-BB64-5E9EE06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8F145-95CE-4575-A133-A1E36F58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CC21F-5FA7-4810-82CB-336968B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F8FFB-803D-4818-BBA1-E5F4C645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C691B6-A4AC-498C-8B08-328F495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Rekomendasi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D40FB-8CF5-43A8-902A-A5EE0AD9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4 komoditas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E7D63-2086-4D8F-8E09-68CA749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C6933-8AE7-417A-A919-352A776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ACA89-2FD7-4156-9728-86CBF32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E6356-4781-41D2-B24C-AED387FD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01456A-1B1F-45A2-8377-E0BCFEA5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F0B338-F49A-495B-B396-95D99E2A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konteks terstruktur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62B2DA-9639-49DB-915C-12C4BB6E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A99A84-4D2E-4530-9552-7A409A39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B8A101-7E27-4D1C-A0D9-85EC66D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B2B634-DB82-42EB-81D6-137C439D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657AE6-9DDF-4C10-8FD0-DA37BD25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SD 1.5 + LoRA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937363-42C3-49B4-AB34-4EAA48E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inference GPU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B7ED91-718C-45EC-BE91-C1FB27C2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EB3C6E-E065-40D7-9394-842AB1C0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9565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B49F00-47DE-42C9-BE41-7272E4E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C5C0EB-803C-4F80-8D2A-DD72C73A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F9F116-D6AF-4F31-818F-DBD5E02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90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B74C01-16D2-4676-9433-B9076E07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956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simulasi visual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7A720F-CCB7-40FC-A217-3F80856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52C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E4117A-8C5B-439C-9E14-96E162D5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PENGAMBIL KEPUTUSAN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180E62-48A1-457A-83D4-6CC01916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Rule-based engine</a:t>
            </a:r>
          </a:p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menentukan tanaman berdasarkan aturan.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3B30BC-7E85-49FC-9CBA-C2049981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867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3238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9E0CF5-BF23-4542-9C46-AE4C51C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PEMBANGKIT VISUAL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0467C2-854C-4844-BF21-DFEBF8F3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504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Stable Diffusion + LoRA</a:t>
            </a:r>
          </a:p>
          <a:p xmlns:a="http://schemas.openxmlformats.org/drawingml/2006/main">
            <a:pPr algn="l">
              <a:defRPr sz="12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hanya memvisualkan rekomendasi yang sudah dipilih.</a:t>
            </a:r>
          </a:p>
        </p:txBody>
      </p:sp>
    </p:spTree>
    <p:extLst>
      <p:ext uri="{BB962C8B-B14F-4D97-AF65-F5344CB8AC3E}">
        <p14:creationId xmlns:p14="http://schemas.microsoft.com/office/powerpoint/2010/main" val="19211639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FAF8D0-F9D3-4E70-9672-56EDF713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FD0051D-20B4-4A1B-85CE-AA87EF84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FCE6AA56-FE4D-40AD-AB3A-52DB02F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2E59E-F1D2-4F9B-AD2B-D86F12D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Kontribusinya adalah integrasi yang dapat ditelusuri dalam satu prototipe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835B-8A73-4175-8581-512B87C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59DD5-ECA1-40FE-94C8-C0096256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652E5-7974-4519-BB1B-5441CCE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 dan BAB 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7A20A-8865-4031-ACF4-2A073F93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B3465-8FC9-4B31-B3D1-FFDD96EF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Dalam penelitian yang ditelaah, komponen-komponen berikut umumnya dibahas terpisah. TaniAdaptif menghubungkannya pada alur yang sama.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98F06-6C90-474A-96ED-74A5B0C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2C"/>
          </a:solidFill>
          <a:ln xmlns:a="http://schemas.openxmlformats.org/drawingml/2006/main" w="19050">
            <a:solidFill>
              <a:srgbClr val="62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1A8B2-B2D9-4F58-AB6F-D2649D3B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290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TaniAdaptif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9A6DA-E100-42FE-AE8F-A91D570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2481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simulasi rotasi</a:t>
            </a:r>
          </a:p>
          <a:p xmlns:a="http://schemas.openxmlformats.org/drawingml/2006/main">
            <a:pPr algn="ctr">
              <a:defRPr sz="120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tanam adaptif iklim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4203E-7547-456A-9BFE-19D8CA0E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A5788-23F6-40DE-B5F4-D1AD02D9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C705B-0F95-4A9A-8659-40F7E21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BMKG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9E3D3-F480-476F-82B4-27EDC01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sumber cuaca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0FE6F-D38D-49C4-B959-B32371CC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5CA58-25CD-4B0B-9319-91585EF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3448D-55C3-429A-BAF0-9AFF681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4C961-AB55-46B2-BDEE-A4311C22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Flutter Android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61BB9-3099-4AC6-97B6-D720280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0FC2B-A72F-48F3-A107-8DECE2C4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22321-325C-467A-A0E7-FCAE9E2B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09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78611-31DF-46CE-8C67-F74FF168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146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rule-based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91AFE-6814-4BE5-BE58-9A74D877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93CF-7F2E-4E52-B7E3-C3DEE826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767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EDDDB-F52E-466A-ABFC-C4395E8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101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Generatif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69477-F456-44E8-83DF-24B136A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Stable Diffusion + LoRA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8C103-66F5-476B-AFEF-1F3C07E7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8C78">
              <a:alpha val="13333"/>
            </a:srgbClr>
          </a:solidFill>
          <a:ln xmlns:a="http://schemas.openxmlformats.org/drawingml/2006/main" w="9525">
            <a:solidFill>
              <a:srgbClr val="FF8C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AC095D-0D3B-441C-9DFE-318B10C4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626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8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C78"/>
                </a:solidFill>
                <a:latin typeface="Aptos"/>
                <a:ea typeface="Aptos"/>
                <a:cs typeface="Aptos"/>
              </a:rPr>
              <a:t>Bukan prediksi panen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D8E3A-590F-42AD-B326-D25E036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626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Ruang lingkup: prototipe simulasi dan pengujian teknis.</a:t>
            </a:r>
          </a:p>
        </p:txBody>
      </p:sp>
    </p:spTree>
    <p:extLst>
      <p:ext uri="{BB962C8B-B14F-4D97-AF65-F5344CB8AC3E}">
        <p14:creationId xmlns:p14="http://schemas.microsoft.com/office/powerpoint/2010/main" val="1729437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94D98-9F35-49D5-A70A-58EAAFD9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296940E4-8814-4037-8DD6-8D45BADD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842C81E0-EE51-473C-AB28-32976E8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RANCANGAN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5076E-A6B1-4837-978F-B670F3DA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Arsitektur memisahkan keputusan, layanan, dan pembangkit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4CAD2-B9BE-406B-A3DC-18073CD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8C462-029A-437B-A49C-5EC0DDC3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3FF75-6B1F-448E-A54D-423F16FE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Gambar 3.6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EB2B1-94D0-454D-B50E-113070B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5CB4F-0B72-4ADE-B992-506190B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4191000" cy="43624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E59F9-D80A-43D8-977F-24F9BC8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LAPISAN SISTEM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C833F-4A59-49FC-A386-C5D59FDF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65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C9DFD-B735-49BD-B8FB-DA134A82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21B87-3FCF-423D-AFC3-103BB0D6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Flutter Android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20E46-1340-4860-9D11-6D7D841B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cuaca | form lahan | hasil | riwayat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1AD00-FD4A-49A9-B56A-7055BCD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65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3AEFE-02D6-474C-839C-9BA7093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D8390-DEE4-4895-9FEB-255C05EF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Express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E8945-34FD-41A1-A22A-3DF3CBE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validasi | orkestrasi | proxy inference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B391D-1C28-4C18-A953-33222348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65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E0C8A-72C2-49C4-8EA1-CB8B4345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64731-755C-40D2-B7AA-64B557B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BMKG + rule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9B602-80D4-42AC-9EF1-C73B40E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data cuaca dan aturan rotasi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414B5-6132-4514-8BF8-325A6FEA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3657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2DC90-4D89-4EE7-BFF7-E00F129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80230-C7E5-47E0-9C2A-8EB563A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FastAPI / GPU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6BB67-E62B-4767-8957-A9095E92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Stable Diffusion 1.5 + LoRA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DE19B-682D-4AC3-A806-56242899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Penyimpanan lokal menjaga cache dan riwayat tetap tersedia di sisi aplikasi.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5d6b05e2e409d"/>
          <a:stretch xmlns:a="http://schemas.openxmlformats.org/drawingml/2006/main"/>
        </p:blipFill>
        <p:spPr>
          <a:xfrm xmlns:a="http://schemas.openxmlformats.org/drawingml/2006/main">
            <a:off x="5095875" y="1612853"/>
            <a:ext cx="6581775" cy="41847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949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826FD-76F0-4630-A612-E8840560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8489F38-0462-4ECA-9C19-D53AC919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71579B92-7A97-47FE-B210-8000DAF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7050F-AE58-4071-9EDF-2DDD53F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Rule-based engine membuat rekomendasi yang deterministik dan dapat diaudit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1475B-0D6E-48BE-A9E5-E1CC6369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8BB3F-C0C2-4D0B-8DF0-95AE4CF1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6C70C-B291-475A-8C81-49F831A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Gambar 3.8 dan BAB IV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36694-112E-45FC-B5BD-0A93863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26328-7E7F-48D3-99DD-8EC00A0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67246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0E49D-B9F2-4341-8CF3-00D3F096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81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34C89-E5E6-4D72-AF35-D10C8B7F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384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kunci aturan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848A0-064E-4993-B4DE-36AED592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99E0A-7F0D-4801-859A-0FFFB6F0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kelas komoditas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0F61E-1775-4550-BAA8-1265ACBE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812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532AD-81C6-425A-98E7-11EF9E9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384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rule ID per keluaran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A4069-287E-4ADC-8C60-F15773E1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Variabel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2BAD3-EAB3-46EE-BF53-01C8554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D9591-6D06-4F41-BB17-F971F9FF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100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Kategori curah hujan dari BMKG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F4CB2-6350-4884-AC49-B087667F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B8573-884F-4B7C-91C6-935B9399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339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Ketersediaan 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70DFC-1A24-4E7B-9E28-CD55B23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1A906-F282-49EF-B033-753EC29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577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Tanaman sebelumnya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F60A4-538F-4D20-B9BC-20549BAF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E89E9-8F9F-4DC1-913B-7BCF9CE0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816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Jenis lahan untuk penyesuaian prioritas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3C7DB-4A20-47E6-B92D-2D1190F0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57625"/>
            <a:ext cx="31623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9382E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3603D-1471-4872-9C42-1555855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95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Keluaran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03DEF-56A8-4E42-AADF-BC86A1D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577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Tanaman prioritas</a:t>
            </a:r>
          </a:p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Alternatif</a:t>
            </a:r>
          </a:p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Alasan</a:t>
            </a:r>
          </a:p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Kunci aturan + rule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B3E06D-3F90-4DC4-A1AA-3601E601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C76D">
              <a:alpha val="13333"/>
            </a:srgbClr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29CEA-E010-4DDD-AE81-89625985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674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30/30 kunci diuji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E2866-A57E-4279-97A4-B89244B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76925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Ini membuktikan kelengkapan kontrak perangkat lunak, bukan kebenaran agronomi universal.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20fbd28be4e4d"/>
          <a:stretch xmlns:a="http://schemas.openxmlformats.org/drawingml/2006/main"/>
        </p:blipFill>
        <p:spPr>
          <a:xfrm xmlns:a="http://schemas.openxmlformats.org/drawingml/2006/main">
            <a:off x="622935" y="1581150"/>
            <a:ext cx="3688080" cy="461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888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AA1FE-D10F-4EA8-A2A9-12C86389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282E5C30-E814-4029-9781-AF03C282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7DC6B8A-F607-47B0-973D-4266896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MODEL VISUAL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16348-33C6-45AD-BDB0-A28B1DE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LoRA disesuaikan pada empat kelas dengan 389 gambar terkurasi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D8E02-FF6D-4738-9E41-3B424A72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ACA85-0FC8-4F4E-BC25-5F56467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F1A15-6B7C-46F7-A0BA-35CD6E2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III dan BAB IV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74883-130B-4166-9C06-69C1618F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340D6-54B7-46F6-8416-A3A99A70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389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9F4C3-7EE4-4FA9-922F-6199FB8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total gambar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1B9-9075-467B-BB9B-B3C5FEA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1A901-37F0-400B-9571-F3BF7B9A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09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7518A-F7CE-45EF-B7EC-071771B7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A6407-C81A-44B6-9469-E172EBA5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AEEE5-C86B-4E34-BABD-F7F4D57E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FC705-BD69-4BA8-BDAD-AD7BA5A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komoditas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92B33-4D55-46B4-9FB4-D209817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11633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8031D-A978-4727-B0BF-A9CF67E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92E43-8021-4946-9A1E-E3EE9160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CA37E-9355-4096-8D5C-C2E6EDBE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6F21E-5BB5-481B-A04F-026523FD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242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padi | jagung | cabai | kacang tanah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7A6A8-BBD8-4086-AD0E-2104F4DB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957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D14F8-9554-40F5-8DFB-443B00FB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814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92DD8-A76D-4FED-AE7D-CB11A74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FC6B2-44EC-45F7-8173-369F8A0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FE810-3268-4051-8090-452FC0E6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19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7991B-068D-4216-A6C1-A776B97A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SD 1.5 | LoRA rank 8 | 512x512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EE091-B38C-435A-B592-6FBD90FB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957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C0DBD-D3FE-43D4-8A4B-B51CF77F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814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66AE7-9148-43DB-AB55-3D4A634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6125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E312B-706E-4620-8AB0-16B010D5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861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91CDF-C10B-4DE1-AEF3-1024572D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19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A0BAA-9E6D-420A-B2BD-B240ABE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242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smoke 100 | main 1.600 langkah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36245B-6076-4E77-BCCD-A7C7010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A11EF9-8449-422C-AADE-2CB570E4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05883C-BFA6-46EE-BBA8-4D959118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20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78DA1F-77D2-4D37-9C7E-C753D1A2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0E4A0-7307-4813-9DC9-7C1926B4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194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E208F0-CD1D-42E8-AD01-AE75080C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LoRA final | GPU Tesla T4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9E4890-62B9-4CEB-8A34-00AB3E4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63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A2B31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23D732-3D8B-499E-82A8-AFCAC1EE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Konfigurasi inti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24D9A5-4CF6-4D69-8E85-69B54CE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learning rate 0,0001    |    batch size 1    |    gradient accumulation 4    |    2 x Tesla T4</a:t>
            </a:r>
          </a:p>
        </p:txBody>
      </p:sp>
    </p:spTree>
    <p:extLst>
      <p:ext uri="{BB962C8B-B14F-4D97-AF65-F5344CB8AC3E}">
        <p14:creationId xmlns:p14="http://schemas.microsoft.com/office/powerpoint/2010/main" val="15011673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461AC6-1A96-4C62-97A2-7518393E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E6B292A8-E3B8-49A1-B920-98BC7D0F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C3FF548-2685-4273-94D5-11DA560D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IMPLEMENTASI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92237-CA03-4DB1-B6B1-12160F1A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Alur produk terasa seperti satu perjalanan: cuaca -&gt; input -&gt; rekomendasi -&gt; visual -&gt; riwayat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EC3EA-A29A-452F-AA73-F40A2CC8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07855-70C0-4779-88D9-DDEEC4C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F29B0-4CBA-430E-81C5-01818EAD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Gambar 4.1 sampai 4.5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C68C3-ADCA-4200-8622-E5645D4C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6E2AE-DA70-4F13-9345-97EC5003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Screenshot berikut adalah hasil implementasi yang tertanam pada skripsi, bukan mockup presentasi.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85E5C-4951-485D-8EB3-0973923E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05000" cy="3848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ED37D-DC2D-4003-92B1-041B38D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01  CUACA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28476-9476-4453-B786-728635EF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1905000" cy="3848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A075-3845-4984-BA38-74492F70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15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02 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7ABFD-ED63-4097-AF1E-23DA20DD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1905000" cy="3848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18281-3546-42A1-96E8-1F75A77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15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03  REKOMENDASI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BBCE1-E599-40A5-ABF6-AB27F6F6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14550"/>
            <a:ext cx="1905000" cy="3848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52ABB-D869-4D0E-AF1A-4236486C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15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04  SIMULASI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C3FF8-8877-4C19-A0A2-3C116938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905000" cy="38481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869B8-3FBC-4582-A3FF-B0689514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15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05  RIWAYAT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9ccbab9a94108"/>
          <a:stretch xmlns:a="http://schemas.openxmlformats.org/drawingml/2006/main"/>
        </p:blipFill>
        <p:spPr>
          <a:xfrm xmlns:a="http://schemas.openxmlformats.org/drawingml/2006/main">
            <a:off x="2800350" y="2549798"/>
            <a:ext cx="1752600" cy="2729954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21ee8fc8486b"/>
          <a:stretch xmlns:a="http://schemas.openxmlformats.org/drawingml/2006/main"/>
        </p:blipFill>
        <p:spPr>
          <a:xfrm xmlns:a="http://schemas.openxmlformats.org/drawingml/2006/main">
            <a:off x="5010150" y="2542178"/>
            <a:ext cx="1752600" cy="2745194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85021064441bc"/>
          <a:stretch xmlns:a="http://schemas.openxmlformats.org/drawingml/2006/main"/>
        </p:blipFill>
        <p:spPr>
          <a:xfrm xmlns:a="http://schemas.openxmlformats.org/drawingml/2006/main">
            <a:off x="590550" y="2496004"/>
            <a:ext cx="1752600" cy="283754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4922fcbea4fef"/>
          <a:stretch xmlns:a="http://schemas.openxmlformats.org/drawingml/2006/main"/>
        </p:blipFill>
        <p:spPr>
          <a:xfrm xmlns:a="http://schemas.openxmlformats.org/drawingml/2006/main">
            <a:off x="7345498" y="2247900"/>
            <a:ext cx="1501505" cy="33337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b77e53f6745de"/>
          <a:stretch xmlns:a="http://schemas.openxmlformats.org/drawingml/2006/main"/>
        </p:blipFill>
        <p:spPr>
          <a:xfrm xmlns:a="http://schemas.openxmlformats.org/drawingml/2006/main">
            <a:off x="9555769" y="2247900"/>
            <a:ext cx="1500563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384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41844-2132-45D8-8488-E3277FD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32907AF3-00F4-4D1B-93DD-23542FFA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BB0D362-1200-41CF-927C-459241F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END-TO-END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D464-4203-460C-8366-433E811D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Satu permintaan visual melewati backend sebelum kembali sebagai PNG ke Android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ED0BC-10DA-4E40-B27E-D317D74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E2F4-66C1-4854-B56C-C86B5199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E2D3F-2B70-422F-AE37-9C14821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2A636-A715-4E9C-A6E4-9F5558A9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0DC29-3300-4929-82BA-9C9328A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Jalur ini menjaga token inference tetap privat dan membuat rekomendasi tidak hilang ketika layanan visual gagal.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58F16-355F-47C4-A132-18742522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64184-BB89-4356-88D0-92CB7BC7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4F192-808E-4679-B837-778BE6ED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7BBC5-EC0C-4870-91DE-A556884A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Flutter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22D2B-A317-4B5D-B22C-76A5E57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00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5221F-0B09-465E-808A-8F221ECE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58962-A7A2-4E5A-948C-145E57CD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AB528-BB6B-4487-AEB7-03DC679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E3FC6-9A78-41ED-A4D9-5C89870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Express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8E970-716A-490D-B5B8-B56FC2B5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auth + rate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A87ED-F62A-476E-A6D6-5927D4E5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77543-5FEF-4F11-AB74-6D0115E1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D9B22-D1DC-43BE-A3E2-8D900C2D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794BF-FEF3-4BCE-B72B-8F1BC82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5903D-28F2-48AD-B26C-DFA6EBD0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575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9AA2A-E6AE-4C0E-9E9A-E281420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validasi + orchestration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D046E-6EE7-497F-ACA5-887A368F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00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6D499-A344-421D-8B56-E9CAE28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2F17B-CE8B-49D1-9B87-166C9298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3B017-9284-4EB8-9676-87B27FD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EDF8A-E3D8-46C1-8EBC-4E277ABD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GPU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87A7B-0D86-4300-A7AC-D76681DB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Diffusers + LoRA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BE4D7-9D94-4895-9DFD-24EEC5C2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04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3741DC-1983-4BC6-B6C3-370792BF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86100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1052A3-96BC-4A21-9A90-2E3A7424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809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D50474-E9CD-4CD1-BE3F-197721B7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CBA339-60A1-4DD4-B2F7-8261E0DF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PNG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685BB9-F066-4DCE-9638-94E63A7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proxy kembali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89DBD9-EE96-438A-AAD7-02CEFEED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5238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352C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9C730C-E070-4D93-935F-DA398278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ISOLASI KEGAGALAN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7BBB52-2714-4FD5-A9F9-975B4376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Rekomendasi tetap tampil</a:t>
            </a:r>
          </a:p>
          <a:p xmlns:a="http://schemas.openxmlformats.org/drawingml/2006/main">
            <a:pPr algn="l">
              <a:defRPr sz="16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meskipun GPU atau inference bermasalah.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5A389C-9869-428B-9C2F-966F56C3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548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92B3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614B7D-3462-4A98-954F-8DFFD86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KONTROL TEKNIS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6918FA-DECC-44F0-82AF-B48A549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B5E8AB-AACC-4ABC-971A-E46ACE74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2050"/>
            <a:ext cx="468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URL upstream tidak dibuka ke Flutter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6F8FD6-3114-4805-9DAF-A03CAF5A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86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CA6DD4-0C65-48D0-9DF1-DA3A1208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0175"/>
            <a:ext cx="468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Token inference tidak diletakkan di aplikasi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2DF80C-1313-44F3-BF27-D9F5BA6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1EB80D-568F-45DE-89B4-D7EFC9DA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8300"/>
            <a:ext cx="468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PNG dikirim melalui domain Express</a:t>
            </a:r>
          </a:p>
        </p:txBody>
      </p:sp>
    </p:spTree>
    <p:extLst>
      <p:ext uri="{BB962C8B-B14F-4D97-AF65-F5344CB8AC3E}">
        <p14:creationId xmlns:p14="http://schemas.microsoft.com/office/powerpoint/2010/main" val="4575927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9F4DF-F2E4-4F60-AA3A-A915453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7A413400-6B54-4149-9391-018B733D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B2079B6-1984-4544-BE2E-8F69D705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BUKTI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830AE-B9F8-4CB8-A488-ACA49214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Pengujian mencakup fungsi, integrasi, artefak model, dan jalur aplikasi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60AD7-4154-4783-9EC5-E82C1E6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B25C2-A6F6-4C82-A934-2D0E5181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2843E-9E83-4C94-B1F2-A3CE4CCE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IV dan Lampiran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911C0-25CC-49EA-B46A-88812E41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D96A4-6BEA-43D5-9007-5FDA9CE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Bukti teknis dipisahkan dari klaim pengguna: test otomatis menunjukkan perilaku sistem, bukan penerimaan petani.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85137-8160-4BC2-A0E4-A1AF206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125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D68E0-F98C-4E24-8921-BB9DC671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test 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7330D-20F4-4B0E-AD5D-12B0509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65261-33CE-4834-A7A3-49FE56B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test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2E5F4-8519-4DE4-AC3E-0E8CF7FF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0F013-3083-481A-9238-25AAD676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test Flutter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AB132-BBFE-4B09-AA2D-702F8DE6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254A9-35BF-498D-BAFE-124F8C6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UI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D211F-A401-45BE-BC08-388A34C5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30/30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6D109-C8F3-4E69-B9F2-B015078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decision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68400-2E5B-407A-8683-F8749A70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8DAC3-FADB-47B4-A645-6DCFB47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BD653-7DB9-4421-B4CE-75BE303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BMKG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CEAF9-0764-4E72-9396-316704E7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Parser, cakupan, cache network -&gt; fresh -&gt; stale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8F653-6C61-40D9-817D-09090E0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981EB-2A81-4C8F-BF72-7611D0F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9B1D7-BDD6-40A9-B70D-D45D196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84232-0CE3-4A2B-BECF-136F241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30 kombinasi menghasilkan empat kelas terbatas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CF1F6-D3A3-4E38-9E4D-3605D920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80772-F487-4AFB-982B-DF547BB2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9951C-444C-4C4D-B8EF-BEDBC48B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91C4C1-254D-4E50-A940-AAF64159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Validasi input, timeout, retry, proxy, dan PNG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19610-E49E-42AC-BFBC-FB74DEA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CE5099-2BE8-43E9-9557-8EC15C30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EA2B3-D28C-4711-8004-266CBEE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05A8BA-4E74-432C-A595-F3E96363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816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Hash, tensor, manifest, training, dan evaluasi visual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71B04-E142-4C3C-8640-854D76E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931313-492A-4D34-A22C-10E35659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41BF74-E6DE-4D2A-92FB-0384564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8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91834-9032-44DA-A0FF-E08ADD11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38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Alur aplikasi dan tampilan hasil visual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546493-B748-4F27-A9B7-76262545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0"/>
            <a:ext cx="19240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41C1F"/>
          </a:solidFill>
          <a:ln xmlns:a="http://schemas.openxmlformats.org/drawingml/2006/main" w="9525">
            <a:solidFill>
              <a:srgbClr val="FF8C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EAC337-149D-4319-BF83-EB37EC9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C78"/>
                </a:solidFill>
                <a:latin typeface="Aptos"/>
                <a:ea typeface="Aptos"/>
                <a:cs typeface="Aptos"/>
              </a:rPr>
              <a:t>BATAS KLAIM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E5D523-7E65-4BF8-8D97-13AEA38A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1960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Tidak ada UAT</a:t>
            </a:r>
          </a:p>
          <a:p xmlns:a="http://schemas.openxmlformats.org/drawingml/2006/main">
            <a:pPr algn="l">
              <a:defRPr sz="12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Tidak ada responden</a:t>
            </a:r>
          </a:p>
          <a:p xmlns:a="http://schemas.openxmlformats.org/drawingml/2006/main">
            <a:pPr algn="l">
              <a:defRPr sz="12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Tidak ada validasi ahli</a:t>
            </a:r>
          </a:p>
          <a:p xmlns:a="http://schemas.openxmlformats.org/drawingml/2006/main">
            <a:pPr algn="l">
              <a:defRPr sz="12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Tidak mengukur hasil panen</a:t>
            </a:r>
          </a:p>
        </p:txBody>
      </p:sp>
    </p:spTree>
    <p:extLst>
      <p:ext uri="{BB962C8B-B14F-4D97-AF65-F5344CB8AC3E}">
        <p14:creationId xmlns:p14="http://schemas.microsoft.com/office/powerpoint/2010/main" val="6716941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3E83A5-84C5-46BC-9C97-BB8FF508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4C84F16C-0B77-4356-8BF1-36A29F26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3DD05CB6-8C70-410A-80F5-CF06C447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EVALUASI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6DD1B-8D38-445E-BED6-E051552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LoRA menaikkan kesesuaian komoditas secara deskriptif, tetapi belum signifikan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806FF-40A1-44EC-9083-84801D0E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EC967-05DC-4BDB-BCA3-F3A730F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169A5-04E1-4559-9FB0-16CC4A8B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IV dan evaluasi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B7D39-9A7A-4847-BAB0-3D0C55C1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491B9-3233-4ECA-980E-3BA5943A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Evaluasi dilakukan pada 36 pasangan gambar dengan prompt dan seed yang dipasangkan.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4990D-E4C3-46BF-9306-C0A7F97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239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DA400-5DC9-4F9D-88DF-BD854E0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Kesesuaian komoditas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FFC9D-93B1-48F8-84F1-27C2372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5104B-C4D8-47D8-8F24-6C9A7395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4191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4A67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991B0-B463-49C3-A150-A92B2CE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337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86,11%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6029D-433C-4FC4-A765-CCA6D6B4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0C1E8-6C66-46AD-9A09-D482EA8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459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D604B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067CE-A5E4-48EB-B5AD-FA06650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291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94,44%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76B26-F261-4A40-8B93-E8FA023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Perubahan terlihat pada arah hasil, namun uji statistik menentukan batas klaim.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3F147-70AF-411B-8190-683DED8E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32575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A2B31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9D7BB-881E-4552-9C9B-F54C6BD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+8,33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CA03E-6DF9-4D35-B456-25AA167B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poin persentase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015DA-6C42-48C4-AB1D-87E3D245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86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B5BC"/>
                </a:solidFill>
                <a:latin typeface="Aptos"/>
                <a:ea typeface="Aptos"/>
                <a:cs typeface="Aptos"/>
              </a:rPr>
              <a:t>Exact McNemar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F6140-94BA-49ED-9AC3-BD982092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p = 0,25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E04B7-F15E-49EA-AD1F-E97004F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Belum signifikan pada taraf 0,05.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1ED2A-30FD-489E-BABF-183449E9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8C78">
              <a:alpha val="13333"/>
            </a:srgbClr>
          </a:solidFill>
          <a:ln xmlns:a="http://schemas.openxmlformats.org/drawingml/2006/main" w="9525">
            <a:solidFill>
              <a:srgbClr val="FF8C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E4B3A-2C20-45E8-A547-328B5BBD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8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C78"/>
                </a:solidFill>
                <a:latin typeface="Aptos"/>
                <a:ea typeface="Aptos"/>
                <a:cs typeface="Aptos"/>
              </a:rPr>
              <a:t>deskriptif, bukan klaim universal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16400-4F2F-4999-A0C5-CD03EE6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626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LoRA membantu penyesuaian identitas visual dalam ruang lingkup empat kelas penelitian.</a:t>
            </a:r>
          </a:p>
        </p:txBody>
      </p:sp>
    </p:spTree>
    <p:extLst>
      <p:ext uri="{BB962C8B-B14F-4D97-AF65-F5344CB8AC3E}">
        <p14:creationId xmlns:p14="http://schemas.microsoft.com/office/powerpoint/2010/main" val="9364265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E8864-B5C6-4786-A488-57A51AC7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CAFFCF04-4F03-49BD-8FD8-A6EC28ED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0898F8FB-51F4-46F4-A459-D9CBD7B4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BATASAN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AC0A6-9BAB-46C0-ACA1-3379CE7E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Hasil penelitian kuat pada prototipe dan pengujian teknis, bukan validasi lapangan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2B6B9-6FC8-40C4-BE06-598322F4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1CEBF-5BE5-46FC-B41A-14944424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A0807-F185-4543-A958-00F5B919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 dan BAB IV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C4F1C-9B9B-4E33-9DF8-EFC29B93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6632F-D2B4-411F-BD89-A647B9D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Batasan ini menjaga interpretasi hasil tetap sesuai dengan data yang benar-benar dikumpulkan.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916A2-2DC7-4136-8087-64E052A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C0BF8-3853-4472-A115-2DED399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C2D06-D8EF-409E-A2F2-2FFD8A2E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Belum ada UAT petani, wawancara, kuesioner, atau validasi ahli agronomi.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39C9A-CFA1-46C7-9C24-41ECB7AE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622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66408-465D-4833-9F85-B5C91ECA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11D36-1A0B-4B9E-BB0B-5C2E66EC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7846C-81AD-4333-8F57-CBC87B06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Sistem tidak memprediksi hasil panen dan tidak mengukur produktivitas pertanian.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3DA0A-410A-4010-A6E1-B88ECC59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290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D2DDB-4978-4F53-BEBD-0472528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ADF97-0FF8-4902-88BC-B5F2B594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5B330-1B32-460C-96B7-7E276379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Kalender empat minggu adalah proyeksi berbasis horizon BMKG pendek, bukan prakiraan bulanan resmi.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61BCB-3C42-4B11-853A-1400F2C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8EF25-AA3A-4DB9-B09A-A20C979D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B787D-4C30-4103-B58D-B9530938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594B-0DEB-451E-8E8D-CA6E175F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Dataset berjumlah 389 gambar; data lokal Aikmel belum merata pada seluruh kelas.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DFADB-1BFE-40F4-ADCF-7796CD4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625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0DF21-93E4-4C1D-9510-1931AE69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681DD-CD22-4F20-9B78-8EB1769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CC8C5E-B149-46F6-81D9-EB084374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8"/>
                </a:solidFill>
                <a:latin typeface="Aptos"/>
                <a:ea typeface="Aptos"/>
                <a:cs typeface="Aptos"/>
              </a:rPr>
              <a:t>Evaluasi visual dilakukan pada 36 pasangan; generalisasi di luar prompt, seed, dan empat kelas perlu kehati-hatian.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4559B-169C-4A30-A67E-CA430690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292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71905-9785-4AF6-83EB-24D543CF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1163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2B31"/>
          </a:solidFill>
          <a:ln xmlns:a="http://schemas.openxmlformats.org/drawingml/2006/main" w="9525">
            <a:solidFill>
              <a:srgbClr val="2840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D258A5-F1FF-42FE-9BE4-11AD98B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66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Batasan bukan kegagalan: ini adalah batas interpretasi yang dinyatakan secara ilmiah.</a:t>
            </a:r>
          </a:p>
        </p:txBody>
      </p:sp>
    </p:spTree>
    <p:extLst>
      <p:ext uri="{BB962C8B-B14F-4D97-AF65-F5344CB8AC3E}">
        <p14:creationId xmlns:p14="http://schemas.microsoft.com/office/powerpoint/2010/main" val="16107386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FE116-D716-4B40-89DC-B4F13DA8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99AE87A5-48F9-4B2E-8534-41C83519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881F1BD6-2EBF-4EE6-A417-7730F60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0B5AE-B280-4675-9D92-B26048DC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TaniAdaptif berhasil mengikat keputusan berbasis aturan dan simulasi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C0F18-A3D4-4582-A44B-90A92238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C2730-BB8E-49B1-BAC5-52285F57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28C12-4D40-4FBC-849C-1522128F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FA200-C6AF-4B28-B815-A0F90A0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9B3A2-11C5-4F24-8186-7097AE4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Kesimpulan dirumuskan dari implementasi, pengujian fungsional, integrasi, dan evaluasi teknis yang dilaporkan.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A97E3-FB32-4545-A5BC-E84489E8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27D3D-5F9D-45A3-BF21-8E1E868C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093B2-A09B-4E2A-A448-46B9BF72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1460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Aplikasi mobile TaniAdaptif berhasil dibangun untuk simulasi rotasi tanam adaptif iklim di wilayah Aikmel.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2AAE8-8AD5-4962-9950-51415B1D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1D40C-AF3A-4A56-9750-991602D5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4C1F7-CAD4-474B-8AE8-470A52DC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Rule-based engine mengolah cuaca dan kondisi lahan menjadi rekomendasi empat komoditas.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D1C01-B01A-4593-B237-14A869CB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D7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F044F-26A4-4958-B3AE-C93B64F6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B484A-52A8-4892-8223-06196E9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Stable Diffusion 1.5 + LoRA berhasil diintegrasikan sebagai modul pembangkit simulasi visual.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85DC5-9466-41E8-96AA-E2E0E07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E9C78-4455-475E-9596-FF15DD88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1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016DD-8A0B-45AB-837D-2BBD6A0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Fungsi utama dan integrasi sistem telah diuji sesuai ruang lingkup penelitian.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8FED2-A326-4B0A-88B0-09C50AB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C1F"/>
          </a:solidFill>
          <a:ln xmlns:a="http://schemas.openxmlformats.org/drawingml/2006/main" w="9525">
            <a:solidFill>
              <a:srgbClr val="FF8C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389DC-2072-4CFE-AFA6-81952C1A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81675"/>
            <a:ext cx="868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Efektivitas dan penerimaan pengguna petani belum menjadi klaim penelitian ini.</a:t>
            </a:r>
          </a:p>
        </p:txBody>
      </p:sp>
    </p:spTree>
    <p:extLst>
      <p:ext uri="{BB962C8B-B14F-4D97-AF65-F5344CB8AC3E}">
        <p14:creationId xmlns:p14="http://schemas.microsoft.com/office/powerpoint/2010/main" val="2942613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1A5143-E48A-440F-A326-35CDCAF0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55EC4410-5E7C-448B-B5FD-95E0D22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D9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8FA2AABF-D3D5-445B-A0E5-F31CA1F0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7D7A6-DC32-4302-B969-FB8176E1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Demo singkat mengikuti jalur utama pengguna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C6068-AAA7-4B98-B988-AABFDFB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4507E-5B32-44A7-96D3-363B4B9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EDC25-DFCB-4DA1-AB88-9F41D3F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Sumber: SKRIPSI.docx, BAB IV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2EC16-D8BA-4B20-B110-C88EB99A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F87"/>
                </a:solidFill>
                <a:latin typeface="Aptos"/>
                <a:ea typeface="Aptos"/>
                <a:cs typeface="Aptos"/>
              </a:rPr>
              <a:t>TaniAdaptif | Sidang Skripsi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0B712-88D0-4DD2-B892-699B4A7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Tunjukkan satu skenario lengkap. Jelaskan bahwa rekomendasi adalah keputusan rule-based, sedangkan gambar adalah simulasi visual.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3B175-ECA8-4C3D-9D00-33F2A785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0B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DFB3B-99DF-4A7F-96AB-8117D10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B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0B7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B2806-83EB-47E1-B2A6-9D840F18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Cuaca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DDE20-214F-471F-9EA2-56A6F3B5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Aikmel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2CAF6-7B04-4E74-8A7F-2C4DA80D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147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8E34C-F504-4B59-9737-1E7C6D84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04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31133-CCE1-4DFF-B3AF-76131373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F5C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80809-C707-4823-88B7-E9D5F9F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C7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C7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E802C-0270-45B4-B129-6512137E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Input lahan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3EA85-3B0C-40DD-8F84-DACFFA2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jenis + air + sebelumnya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38BD2-745E-4671-A0ED-B2FBC15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147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296DB-4D52-43B3-8E7A-219DD90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5E0B6-287B-464E-A46C-3AB8F320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349BB-4538-46DB-803C-4A26897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633E8-D306-4F62-B2ED-285506B6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Rekomendasi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81E49-240D-41BE-A802-471E1AB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814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prioritas + alasan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CDBF7-7321-40BF-87D9-B11E73BC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147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5E658-D07A-44FD-BBAF-2BAAFE74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04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563B5-114C-4FBA-80B2-965A3D1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71D7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30FBF-252D-42B2-90BA-5B6D9A01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D7D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1D7D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A55D6-9888-4060-B16F-74AF64D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Simulasi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2A16DE-6509-4495-983C-D20C5553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814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Stable Diffusion + LoRA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BB2C7C-C3FA-402C-AB14-CCDD5980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147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296F08-4911-4A4F-B509-37FF1B2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0425"/>
            <a:ext cx="15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7F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7F8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B3F063-B03F-4F96-81CB-07F80F13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5750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1B24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F5C80-EE2D-438A-A280-5A4A0C92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F9F77-CCEA-4F0D-BC0E-31727DA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Riwayat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EDA50-41C1-4F17-A314-00E87A66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814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simpan dan buka kembali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D1BA58-A52A-4346-B447-4BBD480D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63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52C"/>
          </a:solidFill>
          <a:ln xmlns:a="http://schemas.openxmlformats.org/drawingml/2006/main" w="9525">
            <a:solidFill>
              <a:srgbClr val="62D9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58CFF5-70EB-4E20-B55E-25923E15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D9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D99B"/>
                </a:solidFill>
                <a:latin typeface="Aptos"/>
                <a:ea typeface="Aptos"/>
                <a:cs typeface="Aptos"/>
              </a:rPr>
              <a:t>Kalimat kunci saat demo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25AD62-2D42-4F43-B240-B21B79DA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8"/>
                </a:solidFill>
                <a:latin typeface="Aptos"/>
                <a:ea typeface="Aptos"/>
                <a:cs typeface="Aptos"/>
              </a:rPr>
              <a:t>Sistem memilih tanaman melalui aturan. Model generatif hanya membantu pengguna melihat bentuk visual dari hasil tersebut.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2AFE5F-14A8-4FE2-AA9B-CF2225C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7B5B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7B5BC"/>
                </a:solidFill>
                <a:latin typeface="Aptos"/>
                <a:ea typeface="Aptos"/>
                <a:cs typeface="Aptos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174564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2026-09-05T14:40:21.4730000Z</dcterms:created>
  <dcterms:modified xsi:type="dcterms:W3CDTF">2026-09-05T14:40:21.4740000Z</dcterms:modified>
</coreProperties>
</file>